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7609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3372e3e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83372e3e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83372e3e9c_1_313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g83372e3e9c_1_3138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Google Shape;12;g83372e3e9c_1_31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83372e3e9c_1_3174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83372e3e9c_1_3174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g83372e3e9c_1_3174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g83372e3e9c_1_31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83372e3e9c_1_31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83372e3e9c_1_3131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" name="Google Shape;22;g83372e3e9c_1_3131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23" name="Google Shape;23;g83372e3e9c_1_313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g83372e3e9c_1_3131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5" name="Google Shape;25;g83372e3e9c_1_3131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26" name="Google Shape;26;g83372e3e9c_1_31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g83372e3e9c_1_3142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g83372e3e9c_1_3142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83372e3e9c_1_3142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g83372e3e9c_1_31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g83372e3e9c_1_314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g83372e3e9c_1_314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83372e3e9c_1_314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83372e3e9c_1_3147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83372e3e9c_1_31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83372e3e9c_1_315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83372e3e9c_1_31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g83372e3e9c_1_3156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g83372e3e9c_1_3156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g83372e3e9c_1_3156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g83372e3e9c_1_31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83372e3e9c_1_3161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g83372e3e9c_1_31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83372e3e9c_1_3164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g83372e3e9c_1_3164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83372e3e9c_1_3164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53" name="Google Shape;53;g83372e3e9c_1_316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g83372e3e9c_1_316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83372e3e9c_1_31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3372e3e9c_1_3171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8" name="Google Shape;58;g83372e3e9c_1_31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3372e3e9c_1_312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g83372e3e9c_1_312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g83372e3e9c_1_3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.ai/agent/resume-alig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afreenportfolio/Resume-Analyser/blob/main/resume_analyzer_video_demo.mp4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body" idx="4294967295"/>
          </p:nvPr>
        </p:nvSpPr>
        <p:spPr>
          <a:xfrm>
            <a:off x="1377450" y="462800"/>
            <a:ext cx="6389100" cy="6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 dirty="0"/>
              <a:t>Prototype Submission Phase</a:t>
            </a:r>
            <a:endParaRPr sz="3000" dirty="0"/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14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type="title"/>
          </p:nvPr>
        </p:nvSpPr>
        <p:spPr>
          <a:xfrm>
            <a:off x="0" y="710400"/>
            <a:ext cx="71487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-IN" sz="3000">
                <a:solidFill>
                  <a:srgbClr val="0098FF"/>
                </a:solidFill>
              </a:rPr>
              <a:t>TEAM NAME and MEMBER DETAILS:</a:t>
            </a:r>
            <a:endParaRPr sz="3000">
              <a:solidFill>
                <a:srgbClr val="0098FF"/>
              </a:solidFill>
            </a:endParaRPr>
          </a:p>
        </p:txBody>
      </p:sp>
      <p:sp>
        <p:nvSpPr>
          <p:cNvPr id="114" name="Google Shape;114;p1"/>
          <p:cNvSpPr txBox="1"/>
          <p:nvPr>
            <p:ph idx="1" type="body"/>
          </p:nvPr>
        </p:nvSpPr>
        <p:spPr>
          <a:xfrm>
            <a:off x="0" y="1283800"/>
            <a:ext cx="29307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IN" sz="2400"/>
              <a:t>Resume Analyser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IN" sz="2400"/>
              <a:t>Afreen Sudheer</a:t>
            </a:r>
            <a:endParaRPr i="1" sz="2400"/>
          </a:p>
        </p:txBody>
      </p:sp>
      <p:sp>
        <p:nvSpPr>
          <p:cNvPr id="115" name="Google Shape;115;p1"/>
          <p:cNvSpPr txBox="1"/>
          <p:nvPr>
            <p:ph idx="1" type="body"/>
          </p:nvPr>
        </p:nvSpPr>
        <p:spPr>
          <a:xfrm>
            <a:off x="0" y="3339718"/>
            <a:ext cx="16569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IN" sz="3000">
                <a:solidFill>
                  <a:srgbClr val="0098FF"/>
                </a:solidFill>
              </a:rPr>
              <a:t>THEME:</a:t>
            </a:r>
            <a:endParaRPr sz="3000">
              <a:solidFill>
                <a:srgbClr val="0098FF"/>
              </a:solidFill>
            </a:endParaRPr>
          </a:p>
        </p:txBody>
      </p:sp>
      <p:sp>
        <p:nvSpPr>
          <p:cNvPr id="116" name="Google Shape;116;p1"/>
          <p:cNvSpPr txBox="1"/>
          <p:nvPr>
            <p:ph idx="1" type="body"/>
          </p:nvPr>
        </p:nvSpPr>
        <p:spPr>
          <a:xfrm>
            <a:off x="1387184" y="3397063"/>
            <a:ext cx="30264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i="1" lang="en-IN" sz="2400">
                <a:solidFill>
                  <a:srgbClr val="0075C4"/>
                </a:solidFill>
              </a:rPr>
              <a:t> </a:t>
            </a:r>
            <a:r>
              <a:rPr i="1" lang="en-IN" sz="2400"/>
              <a:t>AI for Career Growth</a:t>
            </a:r>
            <a:endParaRPr i="1" sz="2400"/>
          </a:p>
        </p:txBody>
      </p:sp>
      <p:pic>
        <p:nvPicPr>
          <p:cNvPr id="117" name="Google Shape;1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0" y="650575"/>
            <a:ext cx="4535600" cy="69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3000" dirty="0">
              <a:solidFill>
                <a:srgbClr val="0098FF"/>
              </a:solidFill>
            </a:endParaRPr>
          </a:p>
        </p:txBody>
      </p:sp>
      <p:sp>
        <p:nvSpPr>
          <p:cNvPr id="79" name="Google Shape;79;p3"/>
          <p:cNvSpPr txBox="1">
            <a:spLocks noGrp="1"/>
          </p:cNvSpPr>
          <p:nvPr>
            <p:ph type="body" idx="1"/>
          </p:nvPr>
        </p:nvSpPr>
        <p:spPr>
          <a:xfrm>
            <a:off x="0" y="1231900"/>
            <a:ext cx="85805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/>
              <a:t>Job seekers often face difficulty determining how well their resumes align with job descriptions, while recruiters spend excessive time manually screening applications for relevant skills and </a:t>
            </a:r>
            <a:r>
              <a:rPr lang="en-US" i="1" dirty="0" smtClean="0"/>
              <a:t>experience.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This </a:t>
            </a:r>
            <a:r>
              <a:rPr lang="en-US" i="1" dirty="0"/>
              <a:t>traditional process is inefficient, subjective, and prone to human error, leading to missed opportunities for both candidates and </a:t>
            </a:r>
            <a:r>
              <a:rPr lang="en-US" i="1" dirty="0" smtClean="0"/>
              <a:t>employers.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There </a:t>
            </a:r>
            <a:r>
              <a:rPr lang="en-US" i="1" dirty="0"/>
              <a:t>is a clear need for an automated and reliable solution that bridges this gap through intelligent analysis. </a:t>
            </a:r>
            <a:endParaRPr lang="en-US" i="1" dirty="0" smtClean="0"/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The </a:t>
            </a:r>
            <a:r>
              <a:rPr lang="en-US" i="1" dirty="0"/>
              <a:t>Resume Analyser addresses this problem by leveraging AI to evaluate resumes against job descriptions, highlighting matching skills, identifying missing keywords, and providing clear improvement </a:t>
            </a:r>
            <a:r>
              <a:rPr lang="en-US" i="1" dirty="0" smtClean="0"/>
              <a:t>suggestions..</a:t>
            </a:r>
            <a:endParaRPr i="1" dirty="0"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0" y="650575"/>
            <a:ext cx="2211500" cy="67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0800" i="1" dirty="0">
              <a:solidFill>
                <a:srgbClr val="0098FF"/>
              </a:solidFill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0" y="1357267"/>
            <a:ext cx="8725662" cy="3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None/>
            </a:pPr>
            <a:r>
              <a:rPr lang="en-US" dirty="0"/>
              <a:t>The </a:t>
            </a:r>
            <a:r>
              <a:rPr lang="en-US" i="1" dirty="0"/>
              <a:t>Resume Analyser</a:t>
            </a:r>
            <a:r>
              <a:rPr lang="en-US" dirty="0"/>
              <a:t> is an AI-powered agent built on the Agent.ai platform that automatically evaluates the similarity between a candidate’s resume and a job description. It provides an alignment report with matching skills, missing keywords, and suggestions to enhance compatibility with the target role.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b="1" dirty="0"/>
              <a:t>Impact Metrics:</a:t>
            </a:r>
            <a:endParaRPr lang="en-US" dirty="0"/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Reduction in resume screening time (up to 80%)</a:t>
            </a:r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Improved resume–JD relevance score</a:t>
            </a:r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Higher interview shortlisting rates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b="1" dirty="0"/>
              <a:t>Frameworks / Tools / Technology Stack:</a:t>
            </a:r>
            <a:endParaRPr lang="en-US" dirty="0"/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b="1" dirty="0"/>
              <a:t>Platform:</a:t>
            </a:r>
            <a:r>
              <a:rPr lang="en-US" sz="1800" dirty="0"/>
              <a:t> Agent.ai (No-code workflow builder)</a:t>
            </a:r>
          </a:p>
          <a:p>
            <a:pPr marL="0" indent="0" algn="l"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29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14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>
            <p:ph type="title"/>
          </p:nvPr>
        </p:nvSpPr>
        <p:spPr>
          <a:xfrm>
            <a:off x="0" y="650575"/>
            <a:ext cx="37608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-IN" sz="300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SOLUTION </a:t>
            </a:r>
            <a:r>
              <a:rPr i="1" lang="en-IN" sz="280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(Contd.)</a:t>
            </a:r>
            <a:endParaRPr i="1" sz="10800">
              <a:solidFill>
                <a:srgbClr val="0098FF"/>
              </a:solidFill>
            </a:endParaRPr>
          </a:p>
        </p:txBody>
      </p:sp>
      <p:sp>
        <p:nvSpPr>
          <p:cNvPr id="120" name="Google Shape;120;p2"/>
          <p:cNvSpPr txBox="1"/>
          <p:nvPr>
            <p:ph idx="1" type="body"/>
          </p:nvPr>
        </p:nvSpPr>
        <p:spPr>
          <a:xfrm>
            <a:off x="0" y="1381326"/>
            <a:ext cx="8725500" cy="29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b="1" lang="en-IN" sz="1800"/>
              <a:t>AI Model: </a:t>
            </a:r>
            <a:r>
              <a:rPr lang="en-IN" sz="1800"/>
              <a:t>Claude Opus 4.7</a:t>
            </a:r>
            <a:endParaRPr/>
          </a:p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b="1" lang="en-IN" sz="1800"/>
              <a:t>Input Types:</a:t>
            </a:r>
            <a:r>
              <a:rPr lang="en-IN" sz="1800"/>
              <a:t> Resume (PDF), Job Description (text input)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lang="en-IN"/>
              <a:t>Assumptions / Constraints:</a:t>
            </a:r>
            <a:endParaRPr/>
          </a:p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lang="en-IN" sz="1800"/>
              <a:t>Text-based resumes (not image scans) for accurate parsing</a:t>
            </a:r>
            <a:endParaRPr/>
          </a:p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lang="en-IN" sz="1800"/>
              <a:t>Works best in English language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lang="en-IN"/>
              <a:t>Scalability &amp; Usability:</a:t>
            </a:r>
            <a:endParaRPr/>
          </a:p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lang="en-IN" sz="1800"/>
              <a:t>Easily scalable for recruiters, job portals, and universities for career readiness programs. </a:t>
            </a:r>
            <a:endParaRPr sz="1800"/>
          </a:p>
          <a:p>
            <a:pPr indent="-285750" lvl="1" marL="56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→"/>
            </a:pPr>
            <a:r>
              <a:rPr lang="en-IN" sz="1800"/>
              <a:t>Minimal setup required—entirely browser-based</a:t>
            </a:r>
            <a:r>
              <a:rPr lang="en-I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14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4294967295" type="title"/>
          </p:nvPr>
        </p:nvSpPr>
        <p:spPr>
          <a:xfrm>
            <a:off x="0" y="650574"/>
            <a:ext cx="3354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IN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>
              <a:solidFill>
                <a:srgbClr val="0098FF"/>
              </a:solidFill>
            </a:endParaRPr>
          </a:p>
        </p:txBody>
      </p:sp>
      <p:sp>
        <p:nvSpPr>
          <p:cNvPr id="124" name="Google Shape;124;p3"/>
          <p:cNvSpPr txBox="1"/>
          <p:nvPr>
            <p:ph idx="4294967295" type="subTitle"/>
          </p:nvPr>
        </p:nvSpPr>
        <p:spPr>
          <a:xfrm>
            <a:off x="0" y="1259175"/>
            <a:ext cx="5593200" cy="30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Workflow Diagram 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uploads resume (PDF).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pastes job description text.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 combines inputs and creates formatted dataset.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IN"/>
              <a:t>Claude Opus 4.7</a:t>
            </a: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analyses alignment and generates structured report.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displayed with matching and missing skills, and improvement suggestions.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6542075" y="104576"/>
            <a:ext cx="850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243598" y="727717"/>
            <a:ext cx="16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Resume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502999" y="1418866"/>
            <a:ext cx="95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JD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250101" y="2117353"/>
            <a:ext cx="147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 Data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206000" y="2729568"/>
            <a:ext cx="15681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Claude Opus 4.7 </a:t>
            </a: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133019" y="3594088"/>
            <a:ext cx="166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Generate Report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168263" y="4210828"/>
            <a:ext cx="15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 Output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262774" y="4210830"/>
            <a:ext cx="1409400" cy="3387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168188" y="3594089"/>
            <a:ext cx="1520100" cy="343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232106" y="727571"/>
            <a:ext cx="1515900" cy="3387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365975" y="2729575"/>
            <a:ext cx="1203000" cy="5910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285289" y="2117347"/>
            <a:ext cx="1409400" cy="3387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6967475" y="3284828"/>
            <a:ext cx="0" cy="34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" name="Google Shape;139;p3"/>
          <p:cNvCxnSpPr/>
          <p:nvPr/>
        </p:nvCxnSpPr>
        <p:spPr>
          <a:xfrm>
            <a:off x="6967484" y="2467553"/>
            <a:ext cx="0" cy="3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" name="Google Shape;140;p3"/>
          <p:cNvSpPr/>
          <p:nvPr/>
        </p:nvSpPr>
        <p:spPr>
          <a:xfrm>
            <a:off x="6514549" y="1418713"/>
            <a:ext cx="951000" cy="3387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3"/>
          <p:cNvCxnSpPr/>
          <p:nvPr/>
        </p:nvCxnSpPr>
        <p:spPr>
          <a:xfrm>
            <a:off x="6978449" y="1761909"/>
            <a:ext cx="0" cy="34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2" name="Google Shape;142;p3"/>
          <p:cNvCxnSpPr/>
          <p:nvPr/>
        </p:nvCxnSpPr>
        <p:spPr>
          <a:xfrm>
            <a:off x="6983537" y="1066270"/>
            <a:ext cx="0" cy="3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3" name="Google Shape;143;p3"/>
          <p:cNvSpPr/>
          <p:nvPr/>
        </p:nvSpPr>
        <p:spPr>
          <a:xfrm>
            <a:off x="6514551" y="88608"/>
            <a:ext cx="951000" cy="3387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3"/>
          <p:cNvCxnSpPr/>
          <p:nvPr/>
        </p:nvCxnSpPr>
        <p:spPr>
          <a:xfrm>
            <a:off x="6990049" y="400587"/>
            <a:ext cx="0" cy="3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5" name="Google Shape;145;p3"/>
          <p:cNvCxnSpPr/>
          <p:nvPr/>
        </p:nvCxnSpPr>
        <p:spPr>
          <a:xfrm>
            <a:off x="6967484" y="3937303"/>
            <a:ext cx="0" cy="3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14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idx="4294967295" type="title"/>
          </p:nvPr>
        </p:nvSpPr>
        <p:spPr>
          <a:xfrm>
            <a:off x="0" y="650574"/>
            <a:ext cx="4643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IN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i="1" lang="en-IN" sz="280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(Cont.d)</a:t>
            </a:r>
            <a:endParaRPr i="1" sz="2800">
              <a:solidFill>
                <a:srgbClr val="0098FF"/>
              </a:solidFill>
            </a:endParaRPr>
          </a:p>
        </p:txBody>
      </p:sp>
      <p:sp>
        <p:nvSpPr>
          <p:cNvPr id="148" name="Google Shape;148;p4"/>
          <p:cNvSpPr txBox="1"/>
          <p:nvPr>
            <p:ph idx="4294967295" type="subTitle"/>
          </p:nvPr>
        </p:nvSpPr>
        <p:spPr>
          <a:xfrm>
            <a:off x="0" y="1259175"/>
            <a:ext cx="8623200" cy="20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Core Concept &amp; Components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4400" lvl="0" marL="28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Concept:</a:t>
            </a: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AI-assisted career optimization</a:t>
            </a:r>
            <a:endParaRPr/>
          </a:p>
          <a:p>
            <a:pPr indent="-284400" lvl="0" marL="28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Principles:</a:t>
            </a: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Natural Language Understanding (NLP), semantic similarity detection, keyword extraction</a:t>
            </a:r>
            <a:endParaRPr/>
          </a:p>
          <a:p>
            <a:pPr indent="-284400" lvl="0" marL="28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Elements:</a:t>
            </a: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Resume parser, job description analy</a:t>
            </a:r>
            <a:r>
              <a:rPr lang="en-IN"/>
              <a:t>ser</a:t>
            </a:r>
            <a:r>
              <a:rPr b="0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comparison engine, output renderer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3372e3e9c_0_0"/>
          <p:cNvSpPr txBox="1">
            <a:spLocks noGrp="1"/>
          </p:cNvSpPr>
          <p:nvPr>
            <p:ph type="title"/>
          </p:nvPr>
        </p:nvSpPr>
        <p:spPr>
          <a:xfrm>
            <a:off x="2195763" y="1213616"/>
            <a:ext cx="4752475" cy="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</a:t>
            </a:r>
            <a:r>
              <a:rPr lang="en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3200" dirty="0">
              <a:solidFill>
                <a:schemeClr val="dk1"/>
              </a:solidFill>
            </a:endParaRPr>
          </a:p>
        </p:txBody>
      </p:sp>
      <p:sp>
        <p:nvSpPr>
          <p:cNvPr id="102" name="Google Shape;102;g83372e3e9c_0_0"/>
          <p:cNvSpPr txBox="1">
            <a:spLocks noGrp="1"/>
          </p:cNvSpPr>
          <p:nvPr>
            <p:ph type="body" idx="1"/>
          </p:nvPr>
        </p:nvSpPr>
        <p:spPr>
          <a:xfrm>
            <a:off x="1840831" y="2138765"/>
            <a:ext cx="5462338" cy="119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None/>
            </a:pPr>
            <a:r>
              <a:rPr lang="en-IN" sz="3000" i="1" dirty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Live </a:t>
            </a: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Agent: </a:t>
            </a:r>
            <a:r>
              <a:rPr lang="en-IN" sz="3000" i="1" dirty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IN" sz="3000" i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[View Live Agent]</a:t>
            </a:r>
            <a:endParaRPr lang="en-IN" sz="3000" i="1" dirty="0" smtClean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buNone/>
            </a:pP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:-  </a:t>
            </a:r>
            <a:r>
              <a:rPr lang="en-IN" sz="3000" i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[View Video Demo]</a:t>
            </a:r>
            <a:endParaRPr sz="3000" i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83372e3e9c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3418919" y="134128"/>
            <a:ext cx="2549386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89" y="1002813"/>
            <a:ext cx="6994022" cy="3820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13121" y="633481"/>
            <a:ext cx="3717758" cy="386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Inputs (Resume &amp; Job Description)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2503224" y="58584"/>
            <a:ext cx="4137553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 (</a:t>
            </a:r>
            <a:r>
              <a:rPr lang="en" sz="30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Contd.)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463665" y="629288"/>
            <a:ext cx="421667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Outputs (Resume Alignment Summary)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54" y="1100410"/>
            <a:ext cx="841309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9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2503224" y="58584"/>
            <a:ext cx="4137553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 (</a:t>
            </a:r>
            <a:r>
              <a:rPr lang="en" sz="30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Contd.)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645110" y="629287"/>
            <a:ext cx="385378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Output (Improvement Suggestions)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6" y="1197640"/>
            <a:ext cx="8179948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38279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